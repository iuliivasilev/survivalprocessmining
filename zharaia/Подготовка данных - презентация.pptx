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реча" id="{fd0f967e-3ee3-8c73-1b22-ddf578f049a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3A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3A4A"/>
                </a:solidFill>
                <a:latin typeface="+mn-lt"/>
              </a:rPr>
              <a:t>Доля эпизодов с типом,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эпизодов, %</c:v>
                </c:pt>
              </c:strCache>
            </c:strRef>
          </c:tx>
          <c:spPr>
            <a:solidFill>
              <a:srgbClr val="3E6E8E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6E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6E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6E8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6E8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323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E6E8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E6E8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E6E8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E6E8E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Unknown</c:v>
                  </c:pt>
                  <c:pt idx="1">
                    <c:v>PublicOrder</c:v>
                  </c:pt>
                  <c:pt idx="2">
                    <c:v>Fraud</c:v>
                  </c:pt>
                  <c:pt idx="3">
                    <c:v>ResistPolice</c:v>
                  </c:pt>
                  <c:pt idx="4">
                    <c:v>OldCase</c:v>
                  </c:pt>
                  <c:pt idx="5">
                    <c:v>Traffic</c:v>
                  </c:pt>
                  <c:pt idx="6">
                    <c:v>Drug</c:v>
                  </c:pt>
                  <c:pt idx="7">
                    <c:v>Property</c:v>
                  </c:pt>
                  <c:pt idx="8">
                    <c:v>Violent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4</c:v>
                </c:pt>
                <c:pt idx="2">
                  <c:v>5.5</c:v>
                </c:pt>
                <c:pt idx="3">
                  <c:v>8</c:v>
                </c:pt>
                <c:pt idx="4">
                  <c:v>19</c:v>
                </c:pt>
                <c:pt idx="5">
                  <c:v>20</c:v>
                </c:pt>
                <c:pt idx="6">
                  <c:v>21</c:v>
                </c:pt>
                <c:pt idx="7">
                  <c:v>23</c:v>
                </c:pt>
                <c:pt idx="8">
                  <c:v>25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3A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3A4A"/>
                </a:solidFill>
                <a:latin typeface="+mn-lt"/>
              </a:rPr>
              <a:t>Вероятность самоперехода (тип → тот же тип)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Все обвинения новые</c:v>
                </c:pt>
              </c:strCache>
            </c:strRef>
          </c:tx>
          <c:spPr>
            <a:solidFill>
              <a:srgbClr val="7A8B9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Property</c:v>
                  </c:pt>
                  <c:pt idx="1">
                    <c:v>Violent</c:v>
                  </c:pt>
                  <c:pt idx="2">
                    <c:v>Drug</c:v>
                  </c:pt>
                  <c:pt idx="3">
                    <c:v>Traffic</c:v>
                  </c:pt>
                  <c:pt idx="4">
                    <c:v>Sex</c:v>
                  </c:pt>
                  <c:pt idx="5">
                    <c:v>Fraud</c:v>
                  </c:pt>
                  <c:pt idx="6">
                    <c:v>Weapon</c:v>
                  </c:pt>
                  <c:pt idx="7">
                    <c:v>Среднее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0.566</c:v>
                </c:pt>
                <c:pt idx="1">
                  <c:v>0.514</c:v>
                </c:pt>
                <c:pt idx="2">
                  <c:v>0.521</c:v>
                </c:pt>
                <c:pt idx="3">
                  <c:v>0.446</c:v>
                </c:pt>
                <c:pt idx="4">
                  <c:v>0.486</c:v>
                </c:pt>
                <c:pt idx="5">
                  <c:v>0.346</c:v>
                </c:pt>
                <c:pt idx="6">
                  <c:v>0.281</c:v>
                </c:pt>
                <c:pt idx="7">
                  <c:v>0.328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 OldCase</c:v>
                </c:pt>
              </c:strCache>
            </c:strRef>
          </c:tx>
          <c:spPr>
            <a:solidFill>
              <a:srgbClr val="A8323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Property</c:v>
                  </c:pt>
                  <c:pt idx="1">
                    <c:v>Violent</c:v>
                  </c:pt>
                  <c:pt idx="2">
                    <c:v>Drug</c:v>
                  </c:pt>
                  <c:pt idx="3">
                    <c:v>Traffic</c:v>
                  </c:pt>
                  <c:pt idx="4">
                    <c:v>Sex</c:v>
                  </c:pt>
                  <c:pt idx="5">
                    <c:v>Fraud</c:v>
                  </c:pt>
                  <c:pt idx="6">
                    <c:v>Weapon</c:v>
                  </c:pt>
                  <c:pt idx="7">
                    <c:v>Среднее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0.282</c:v>
                </c:pt>
                <c:pt idx="1">
                  <c:v>0.261</c:v>
                </c:pt>
                <c:pt idx="2">
                  <c:v>0.211</c:v>
                </c:pt>
                <c:pt idx="3">
                  <c:v>0.227</c:v>
                </c:pt>
                <c:pt idx="4">
                  <c:v>0.117</c:v>
                </c:pt>
                <c:pt idx="5">
                  <c:v>0.057</c:v>
                </c:pt>
                <c:pt idx="6">
                  <c:v>0.032</c:v>
                </c:pt>
                <c:pt idx="7">
                  <c:v>0.12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Без OldCase</c:v>
                </c:pt>
              </c:strCache>
            </c:strRef>
          </c:tx>
          <c:spPr>
            <a:solidFill>
              <a:srgbClr val="3E6E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Property</c:v>
                  </c:pt>
                  <c:pt idx="1">
                    <c:v>Violent</c:v>
                  </c:pt>
                  <c:pt idx="2">
                    <c:v>Drug</c:v>
                  </c:pt>
                  <c:pt idx="3">
                    <c:v>Traffic</c:v>
                  </c:pt>
                  <c:pt idx="4">
                    <c:v>Sex</c:v>
                  </c:pt>
                  <c:pt idx="5">
                    <c:v>Fraud</c:v>
                  </c:pt>
                  <c:pt idx="6">
                    <c:v>Weapon</c:v>
                  </c:pt>
                  <c:pt idx="7">
                    <c:v>Среднее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0.423</c:v>
                </c:pt>
                <c:pt idx="1">
                  <c:v>0.365</c:v>
                </c:pt>
                <c:pt idx="2">
                  <c:v>0.327</c:v>
                </c:pt>
                <c:pt idx="3">
                  <c:v>0.337</c:v>
                </c:pt>
                <c:pt idx="4">
                  <c:v>0.212</c:v>
                </c:pt>
                <c:pt idx="5">
                  <c:v>0.097</c:v>
                </c:pt>
                <c:pt idx="6">
                  <c:v>0.041</c:v>
                </c:pt>
                <c:pt idx="7">
                  <c:v>0.167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3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о том, как теперь готовятся данные для этапа 1.1: откуда берём, какая структура, что изменилось по сравнению с данными Даши и какие решения нужны.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изменение: источник и уровень детализации. Раньше состояние не менялось между эпизодами, потому что обвинение было одно на человека. Теперь у каждого заключения свои обвинения, а люди разделены по person_id.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Код только читает базу. Пример kevon dixon: 5 записей в casearrest — это 5 обвинений по трём арестам, два ареста без заключения не попали.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Столбцы 1–19 те же, что у Даши, name заменён на id; добавлены charge_num, n_charges, charge_category, charge_source, case_number, custody_source. Подробное описание каждого столбца с формулой и пропусками — в отчёте.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11 237 переходов у 5 230 человек с повторами. Сумма долей больше 100%, потому что эпизод может содержать несколько типов. OldCase выделен цветом: это повторный арест по старому делу, скорее всего нарушение условий или ордер. Редкие типы (Weapon, Tampering, Sex, Justice, Conspiracy, Minors) не показаны.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петель: в графе слишком много переходов «в тот же тип». Разбор показал, что 65% петель возникают, когда человека заново заключают по уже открытому делу (нарушение пробации, ордер, приговор). Причина возврата в compas.db не записана, а статьи механически повторяются. Всего старых обвинений 18 875 из 65 363, эпизодов только из старых дел 4 066.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редких типов петля почти целиком была из-за старых дел: Fraud 0.35 → 0.06/0.10, Weapon 0.28 → 0.03/0.04. У крупных типов настоящий повтор остаётся: Property 0.42, Violent 0.37 в варианте без OldCase. Переходы между разными типами почти не меняются.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три варианта используют одну таблицу, 15 типов, склейку jail → prison и цензуру без END; различаются только правилом для возврата по старому делу. Ещё проверена склейка повторов в ±7 дней с общей статьёй: склеилось всего 246 пар, граф не меняется, поэтому окно по времени правило по делу не заменяет. Рекомендация: основной вариант с OldCase, вариант без OldCase как проверка устойчивости.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Рекомендации: развилку оставить; OldCase оставить отдельным риском (возврат по старому делу), вариант без него посчитан для сравнения; 15 типов пока достаточно.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LIS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Подготовка данных COMPAS для графа переходов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Таблица обвинений из compas.db и журнал событий для PM4Py · 9 октября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Таблицу строим прямо из compas.db, а не из файла Даши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Было (Даша)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Стало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Объект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name: однофамильцы склеены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id = person_id из casearrest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Обвинение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одно индексное COMPAS на человека во всех строках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все обвинения каждого заключения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Заключения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cox-parsed.csv + дело COMPAS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все jail + prison с 2013-01-01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Объём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18 668 строк, 10 855 имён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65 363 строки, 22 552 заключения, 10 580 человек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Переходов в графе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7 668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11 237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Утечка у Даши: ковариаты эпизода i брались из строки i+1, time_since_last_arrest почти равен ответу (C-index 0.898; без него 0.52–0.56). В новой таблице каждый столбец помечен как «прошлое» или «будущее».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Пять таблиц базы сводятся в одну таблицу обвинений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people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11 757 строк · age, sex, race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89120" y="1874520"/>
            <a:ext cx="822960" cy="137160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6032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6517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casearrest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128 183 строк · person_id, дело, дата ареста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3063240"/>
            <a:ext cx="822960" cy="18288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74904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8404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charge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148 086 строк · все обвинения дела, степень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4251960"/>
            <a:ext cx="822960" cy="-10058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93776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029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jailhistory + prisonhistory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22 111 + 4 945 строк · вход и выход из заключения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5440680"/>
            <a:ext cx="822960" cy="-21945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2468880"/>
            <a:ext cx="2743200" cy="1554480"/>
          </a:xfrm>
          <a:prstGeom prst="roundRect">
            <a:avLst>
              <a:gd name="adj" fmla="val 470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25603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build_from_compas_db.py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обвинения к заключению: арест ±1 день → дата преступления → прошлое дело за 365 дней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2440" y="3063240"/>
            <a:ext cx="54864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2194560"/>
            <a:ext cx="28346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15400" y="228600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compas_custody_charges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.csv + .xlsx, 25 столбцов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источник обвинений: арест 20 368, прошлое дело 1 335, дата преступления 71, не найдено 778 заключений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49377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Проверено: при аресте в ±1 день попадают все обвинения всех дел ареста (100% из 20 368). Аресты без записи о заключении (13% с 2013 г.) не попадают — решение от 8.10: события по заключениям.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Одна строка — одно обвинение внутри заключения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65 363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обвинений (строк)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22 552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заключения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10 580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человек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0" y="132588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77640" y="13716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Человек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id, age, sex, race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246888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5146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Заключение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in_custody, out_custody, custody_num, time_to_last_custody, time_since_last_arrest, curr / sum / average_dur_custody, n_charges, charge_source, custody_source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361188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77640" y="36576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Обвинение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c_charge_degree, c_charge_desc, charge_num, charge_category, case_number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475488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77640" y="48006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Будущее — цель, не признак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time_to_future_arrest, event, event_of_future_arrest, all_future_arrest_times, all_future_events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5943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Ключ строки: id → custody_num → charge_num. Медиана 2 обвинения на заключение, у 64% больше одного.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Из заключений получаем 21 716 эпизодов для журнала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Склейка jail → prison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prison в день выхода = приговор, не новый арест (836)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14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OldCase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эпизод только из дел, уже бывших у человека: 4 066 (37% повторных)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57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15 типов преступлений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состояние = множество типов эпизода; развилка у 27%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800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Цензура без 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последний эпизод каждого цензурирован 2016-04-19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035040" y="1280160"/>
          <a:ext cx="55778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Петли: две трети — повторный арест по тому же делу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Как возникает ложная петля (id 1)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Одно дело 13011352CF10A, два заключения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84832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2013-08-13 · арест, дело 13011352CF10A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Aggravated Assault w/Firearm (F3), Battery (M1)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тип: Violent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548640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410712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2014-07-07 · новый арест по тому же делу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те же две строки из charge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тип: Violent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3172968"/>
            <a:ext cx="365760" cy="182880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800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 charge у дела один неизменный список обвинений, поэтому повторное заключение по делу копирует статьи и даёт петлю Violent → Violent без нового преступления.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280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11 136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переходов между эпизодами (вариант «все новые»)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688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4 935 · 44%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из них петель (тот же набор типов)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657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3 226 · 65%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петель только из старых дел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846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1 212 · 25%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петель по новым делам того же типа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6035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Остальные 497 петель смешанные. Старое дело = case_number уже был у этого id в прошлом эпизоде.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Без старых дел вероятность петли падает вдвое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76809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595360" y="137160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32520" y="1417320"/>
            <a:ext cx="2743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0.33 → 0.12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средняя петля с OldCase; ещё 0.34 уходит в OldCase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595360" y="297180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017520"/>
            <a:ext cx="2743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без OldCase: настоящий повтор того же типа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595360" y="457200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4617720"/>
            <a:ext cx="2743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OldCase → OldCase: возврат по старому делу повторяется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Три варианта построения логов и графа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502920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Общий: все обвинения новые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Возврат по старому делу = обычный эпизод со своими статьями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Эпизодов 21 716, переходов 11 136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Петель 44%, средняя 0.33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HM 0.9: fitness 0.998, precision 0.57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663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Плюс: ничего не теряем. Минус: ложные петли, событие не всегда новое преступление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566160" cy="502920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 OldCase (основной)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1031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Эпизод только из старых дел = отдельное состояние OldCase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9718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Эпизодов 21 716 (OldCase 4 066)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Петель 21%, средняя 0.12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HM 0.9: fitness 0.995, precision 0.67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4663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Для п. 1.2: OldCase = отдельный конкурирующий риск «возврат по старому делу»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280160"/>
            <a:ext cx="3566160" cy="502920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Без OldCase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1031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Эпизоды только из старых дел удаляются из цепочки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9718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Эпизодов 17 646, переходов 7 066 (−36%)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Петель 22%, средняя 0.17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HM 0.9: fitness 0.995, precision 0.70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663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Для п. 1.2: событие = только новое преступление; данных меньше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Что нужно решить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7373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Состояние = множество типов эпизода (развилка) или один тип?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8346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Какой вариант лога основной: общий, с OldCase или без OldCase?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9319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Хватает ли 15 типов или ждём дополнительные метки?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5120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50292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Дальше п. 1.2: конкурирующие риски на дугах графа — какие признаки и бейзлайны?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as">
  <a:themeElements>
    <a:clrScheme name="Compas">
      <a:dk1>
        <a:srgbClr val="1F2933"/>
      </a:dk1>
      <a:lt1>
        <a:srgbClr val="FFFFFF"/>
      </a:lt1>
      <a:dk2>
        <a:srgbClr val="2B3A4A"/>
      </a:dk2>
      <a:lt2>
        <a:srgbClr val="EEF1F4"/>
      </a:lt2>
      <a:accent1>
        <a:srgbClr val="A8323E"/>
      </a:accent1>
      <a:accent2>
        <a:srgbClr val="3E6E8E"/>
      </a:accent2>
      <a:accent3>
        <a:srgbClr val="7A8B99"/>
      </a:accent3>
      <a:accent4>
        <a:srgbClr val="D9A441"/>
      </a:accent4>
      <a:accent5>
        <a:srgbClr val="5B8C5A"/>
      </a:accent5>
      <a:accent6>
        <a:srgbClr val="C7D3DD"/>
      </a:accent6>
      <a:hlink>
        <a:srgbClr val="3E6E8E"/>
      </a:hlink>
      <a:folHlink>
        <a:srgbClr val="7A8B99"/>
      </a:folHlink>
    </a:clrScheme>
    <a:fontScheme name="Comp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Подготовка данных COMPAS</dc:title>
  <dc:subject>PptxGenJS Presentation</dc:subject>
  <dc:creator>PptxGenJS</dc:creator>
  <cp:lastModifiedBy>PptxGenJS</cp:lastModifiedBy>
  <cp:revision>1</cp:revision>
  <dcterms:created xsi:type="dcterms:W3CDTF">2026-10-10T02:19:43Z</dcterms:created>
  <dcterms:modified xsi:type="dcterms:W3CDTF">2026-10-10T02:19:43Z</dcterms:modified>
</cp:coreProperties>
</file>