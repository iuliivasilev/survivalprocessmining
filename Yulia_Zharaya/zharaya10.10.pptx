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стреча" id="{FD0F967E-3EE3-8C73-1B22-DDF578F049AB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400" b="0" i="0" u="none" strike="noStrike" kern="1200" baseline="0">
                <a:solidFill>
                  <a:srgbClr val="2B3A4A"/>
                </a:solidFill>
                <a:latin typeface="+mn-lt"/>
                <a:ea typeface="+mn-ea"/>
                <a:cs typeface="+mn-cs"/>
              </a:defRPr>
            </a:pPr>
            <a:r>
              <a:rPr lang="ru-RU" sz="1400" b="0" i="0" u="none" strike="noStrike">
                <a:solidFill>
                  <a:srgbClr val="2B3A4A"/>
                </a:solidFill>
                <a:latin typeface="+mn-lt"/>
              </a:rPr>
              <a:t>Доля эпизодов с типом, %</a:t>
            </a:r>
            <a:endParaRPr lang="ru-RU" sz="1400" b="0" i="0" u="none" strike="noStrike">
              <a:solidFill>
                <a:srgbClr val="2B3A4A"/>
              </a:solidFill>
              <a:latin typeface="+mn-lt"/>
            </a:endParaRP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Доля эпизодов, %</c:v>
                </c:pt>
              </c:strCache>
            </c:strRef>
          </c:tx>
          <c:spPr>
            <a:solidFill>
              <a:srgbClr val="3E6E8E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</c:dPt>
          <c:dPt>
            <c:idx val="2"/>
            <c:invertIfNegative val="0"/>
            <c:bubble3D val="0"/>
          </c:dPt>
          <c:dPt>
            <c:idx val="3"/>
            <c:invertIfNegative val="0"/>
            <c:bubble3D val="0"/>
          </c:dPt>
          <c:dPt>
            <c:idx val="4"/>
            <c:invertIfNegative val="0"/>
            <c:bubble3D val="0"/>
            <c:spPr>
              <a:solidFill>
                <a:srgbClr val="A8323E"/>
              </a:solidFill>
              <a:effectLst/>
            </c:spPr>
          </c:dPt>
          <c:dPt>
            <c:idx val="5"/>
            <c:invertIfNegative val="0"/>
            <c:bubble3D val="0"/>
          </c:dPt>
          <c:dPt>
            <c:idx val="6"/>
            <c:invertIfNegative val="0"/>
            <c:bubble3D val="0"/>
          </c:dPt>
          <c:dPt>
            <c:idx val="7"/>
            <c:invertIfNegative val="0"/>
            <c:bubble3D val="0"/>
          </c:dPt>
          <c:dPt>
            <c:idx val="8"/>
            <c:invertIfNegative val="0"/>
            <c:bubble3D val="0"/>
          </c:dPt>
          <c:dLbls>
            <c:numFmt formatCode="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1F2933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Sheet1!$A$2:$A$10</c:f>
              <c:strCache>
                <c:ptCount val="9"/>
                <c:pt idx="0">
                  <c:v>Unknown</c:v>
                </c:pt>
                <c:pt idx="1">
                  <c:v>PublicOrder</c:v>
                </c:pt>
                <c:pt idx="2">
                  <c:v>Fraud</c:v>
                </c:pt>
                <c:pt idx="3">
                  <c:v>ResistPolice</c:v>
                </c:pt>
                <c:pt idx="4">
                  <c:v>OldCase</c:v>
                </c:pt>
                <c:pt idx="5">
                  <c:v>Traffic</c:v>
                </c:pt>
                <c:pt idx="6">
                  <c:v>Drug</c:v>
                </c:pt>
                <c:pt idx="7">
                  <c:v>Property</c:v>
                </c:pt>
                <c:pt idx="8">
                  <c:v>Violent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</c:v>
                </c:pt>
                <c:pt idx="1">
                  <c:v>4</c:v>
                </c:pt>
                <c:pt idx="2">
                  <c:v>5.5</c:v>
                </c:pt>
                <c:pt idx="3">
                  <c:v>8</c:v>
                </c:pt>
                <c:pt idx="4">
                  <c:v>19</c:v>
                </c:pt>
                <c:pt idx="5">
                  <c:v>20</c:v>
                </c:pt>
                <c:pt idx="6">
                  <c:v>21</c:v>
                </c:pt>
                <c:pt idx="7">
                  <c:v>23</c:v>
                </c:pt>
                <c:pt idx="8">
                  <c:v>25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126901064"/>
        <c:axId val="126893616"/>
      </c:barChart>
      <c:catAx>
        <c:axId val="12690106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2B3A4A"/>
                </a:solidFill>
                <a:latin typeface="+mn-lt"/>
                <a:ea typeface="+mn-ea"/>
                <a:cs typeface="+mn-cs"/>
              </a:defRPr>
            </a:pPr>
          </a:p>
        </c:txPr>
        <c:crossAx val="126893616"/>
        <c:crosses val="autoZero"/>
        <c:auto val="1"/>
        <c:lblAlgn val="ctr"/>
        <c:lblOffset val="100"/>
        <c:noMultiLvlLbl val="1"/>
      </c:catAx>
      <c:valAx>
        <c:axId val="126893616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269010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400" b="0" i="0" u="none" strike="noStrike" kern="1200" baseline="0">
                <a:solidFill>
                  <a:srgbClr val="2B3A4A"/>
                </a:solidFill>
                <a:latin typeface="+mn-lt"/>
                <a:ea typeface="+mn-ea"/>
                <a:cs typeface="+mn-cs"/>
              </a:defRPr>
            </a:pPr>
            <a:r>
              <a:rPr lang="ru-RU" sz="1400" b="0" i="0" u="none" strike="noStrike">
                <a:solidFill>
                  <a:srgbClr val="2B3A4A"/>
                </a:solidFill>
                <a:latin typeface="+mn-lt"/>
              </a:rPr>
              <a:t>Вероятность самоперехода (тип → тот же тип)</a:t>
            </a:r>
            <a:endParaRPr lang="ru-RU" sz="1400" b="0" i="0" u="none" strike="noStrike">
              <a:solidFill>
                <a:srgbClr val="2B3A4A"/>
              </a:solidFill>
              <a:latin typeface="+mn-lt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Все обвинения новые</c:v>
                </c:pt>
              </c:strCache>
            </c:strRef>
          </c:tx>
          <c:spPr>
            <a:solidFill>
              <a:srgbClr val="7A8B99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rgbClr val="1F2933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Sheet1!$A$2:$A$9</c:f>
              <c:strCache>
                <c:ptCount val="8"/>
                <c:pt idx="0">
                  <c:v>Property</c:v>
                </c:pt>
                <c:pt idx="1">
                  <c:v>Violent</c:v>
                </c:pt>
                <c:pt idx="2">
                  <c:v>Drug</c:v>
                </c:pt>
                <c:pt idx="3">
                  <c:v>Traffic</c:v>
                </c:pt>
                <c:pt idx="4">
                  <c:v>Sex</c:v>
                </c:pt>
                <c:pt idx="5">
                  <c:v>Fraud</c:v>
                </c:pt>
                <c:pt idx="6">
                  <c:v>Weapon</c:v>
                </c:pt>
                <c:pt idx="7">
                  <c:v>Среднее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0.566</c:v>
                </c:pt>
                <c:pt idx="1">
                  <c:v>0.514</c:v>
                </c:pt>
                <c:pt idx="2">
                  <c:v>0.521</c:v>
                </c:pt>
                <c:pt idx="3">
                  <c:v>0.446</c:v>
                </c:pt>
                <c:pt idx="4">
                  <c:v>0.486</c:v>
                </c:pt>
                <c:pt idx="5">
                  <c:v>0.346</c:v>
                </c:pt>
                <c:pt idx="6">
                  <c:v>0.281</c:v>
                </c:pt>
                <c:pt idx="7">
                  <c:v>0.328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 OldCase</c:v>
                </c:pt>
              </c:strCache>
            </c:strRef>
          </c:tx>
          <c:spPr>
            <a:solidFill>
              <a:srgbClr val="A8323E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rgbClr val="1F2933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Sheet1!$A$2:$A$9</c:f>
              <c:strCache>
                <c:ptCount val="8"/>
                <c:pt idx="0">
                  <c:v>Property</c:v>
                </c:pt>
                <c:pt idx="1">
                  <c:v>Violent</c:v>
                </c:pt>
                <c:pt idx="2">
                  <c:v>Drug</c:v>
                </c:pt>
                <c:pt idx="3">
                  <c:v>Traffic</c:v>
                </c:pt>
                <c:pt idx="4">
                  <c:v>Sex</c:v>
                </c:pt>
                <c:pt idx="5">
                  <c:v>Fraud</c:v>
                </c:pt>
                <c:pt idx="6">
                  <c:v>Weapon</c:v>
                </c:pt>
                <c:pt idx="7">
                  <c:v>Среднее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0.282</c:v>
                </c:pt>
                <c:pt idx="1">
                  <c:v>0.261</c:v>
                </c:pt>
                <c:pt idx="2">
                  <c:v>0.211</c:v>
                </c:pt>
                <c:pt idx="3">
                  <c:v>0.227</c:v>
                </c:pt>
                <c:pt idx="4">
                  <c:v>0.117</c:v>
                </c:pt>
                <c:pt idx="5">
                  <c:v>0.057</c:v>
                </c:pt>
                <c:pt idx="6">
                  <c:v>0.032</c:v>
                </c:pt>
                <c:pt idx="7">
                  <c:v>0.12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Без OldCase</c:v>
                </c:pt>
              </c:strCache>
            </c:strRef>
          </c:tx>
          <c:spPr>
            <a:solidFill>
              <a:srgbClr val="3E6E8E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rgbClr val="1F2933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Sheet1!$A$2:$A$9</c:f>
              <c:strCache>
                <c:ptCount val="8"/>
                <c:pt idx="0">
                  <c:v>Property</c:v>
                </c:pt>
                <c:pt idx="1">
                  <c:v>Violent</c:v>
                </c:pt>
                <c:pt idx="2">
                  <c:v>Drug</c:v>
                </c:pt>
                <c:pt idx="3">
                  <c:v>Traffic</c:v>
                </c:pt>
                <c:pt idx="4">
                  <c:v>Sex</c:v>
                </c:pt>
                <c:pt idx="5">
                  <c:v>Fraud</c:v>
                </c:pt>
                <c:pt idx="6">
                  <c:v>Weapon</c:v>
                </c:pt>
                <c:pt idx="7">
                  <c:v>Среднее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0.423</c:v>
                </c:pt>
                <c:pt idx="1">
                  <c:v>0.365</c:v>
                </c:pt>
                <c:pt idx="2">
                  <c:v>0.327</c:v>
                </c:pt>
                <c:pt idx="3">
                  <c:v>0.337</c:v>
                </c:pt>
                <c:pt idx="4">
                  <c:v>0.212</c:v>
                </c:pt>
                <c:pt idx="5">
                  <c:v>0.097</c:v>
                </c:pt>
                <c:pt idx="6">
                  <c:v>0.041</c:v>
                </c:pt>
                <c:pt idx="7">
                  <c:v>0.167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126894008"/>
        <c:axId val="126900280"/>
      </c:barChart>
      <c:catAx>
        <c:axId val="12689400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2B3A4A"/>
                </a:solidFill>
                <a:latin typeface="+mn-lt"/>
                <a:ea typeface="+mn-ea"/>
                <a:cs typeface="+mn-cs"/>
              </a:defRPr>
            </a:pPr>
          </a:p>
        </c:txPr>
        <c:crossAx val="126900280"/>
        <c:crosses val="autoZero"/>
        <c:auto val="1"/>
        <c:lblAlgn val="ctr"/>
        <c:lblOffset val="100"/>
        <c:noMultiLvlLbl val="1"/>
      </c:catAx>
      <c:valAx>
        <c:axId val="126900280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26894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200" b="0" i="0" u="none" strike="noStrike" kern="1200" baseline="0">
              <a:solidFill>
                <a:srgbClr val="2B3A4A"/>
              </a:solidFill>
              <a:latin typeface="+mn-lt"/>
              <a:ea typeface="+mn-ea"/>
              <a:cs typeface="+mn-lt"/>
            </a:defRPr>
          </a:pPr>
        </a:p>
      </c:txPr>
    </c:legend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Коротко о том, как теперь готовятся данные для этапа 1.1: откуда берём, какая структура, что изменилось по сравнению с данными Даши и какие решения нужны.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Главное изменение: источник и уровень детализации. Раньше состояние не менялось между эпизодами, потому что обвинение было одно на человека. Теперь у каждого заключения свои обвинения, а люди разделены по person_id.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Код только читает базу. Пример kevon dixon: 5 записей в casearrest — это 5 обвинений по трём арестам, два ареста без заключения не попали.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Столбцы 1–19 те же, что у Даши, name заменён на id; добавлены charge_num, n_charges, charge_category, charge_source, case_number, custody_source. Подробное описание каждого столбца с формулой и пропусками — в отчёте.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11 237 переходов у 5 230 человек с повторами. Сумма долей больше 100%, потому что эпизод может содержать несколько типов. OldCase выделен цветом: это повторный арест по старому делу, скорее всего нарушение условий или ордер. Редкие типы (Weapon, Tampering, Sex, Justice, Conspiracy, Minors) не показаны.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Проблема петель: в графе слишком много переходов «в тот же тип». Разбор показал, что 65% петель возникают, когда человека заново заключают по уже открытому делу (нарушение пробации, ордер, приговор). Причина возврата в compas.db не записана, а статьи механически повторяются. Всего старых обвинений 18 875 из 65 363, эпизодов только из старых дел 4 066.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 редких типов петля почти целиком была из-за старых дел: Fraud 0.35 → 0.06/0.10, Weapon 0.28 → 0.03/0.04. У крупных типов настоящий повтор остаётся: Property 0.42, Violent 0.37 в варианте без OldCase. Переходы между разными типами почти не меняются.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Все три варианта используют одну таблицу, 15 типов, склейку jail → prison и цензуру без END; различаются только правилом для возврата по старому делу. Ещё проверена склейка повторов в ±7 дней с общей статьёй: склеилось всего 246 пар, граф не меняется, поэтому окно по времени правило по делу не заменяет. Рекомендация: основной вариант с OldCase, вариант без OldCase как проверка устойчивости.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657600"/>
            <a:ext cx="10698480" cy="1280160"/>
          </a:xfrm>
          <a:prstGeom prst="rect">
            <a:avLst/>
          </a:prstGeom>
          <a:noFill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LIS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4.xml"/><Relationship Id="rId1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4.xml"/><Relationship Id="rId1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Подготовка данных COMPAS для графа переходов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657600"/>
            <a:ext cx="10698480" cy="1280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6"/>
                </a:solidFill>
              </a:rPr>
              <a:t>Таблица обвинений из compas.db и журнал событий для PM4Py · 9 октября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Таблицу строим прямо из compas.db, а не из файла Даши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/>
        </p:nvGraphicFramePr>
        <p:xfrm>
          <a:off x="548640" y="1371600"/>
          <a:ext cx="11064240" cy="3950208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  <a:gridCol w="4480560"/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Было (Даша)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Стало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Объект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name: однофамильцы склеены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accent1"/>
                          </a:solidFill>
                        </a:rPr>
                        <a:t>id = person_id из casearrest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Обвинение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одно индексное COMPAS на человека во всех строках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accent1"/>
                          </a:solidFill>
                        </a:rPr>
                        <a:t>все обвинения каждого заключения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Заключения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cox-parsed.csv + дело COMPAS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accent1"/>
                          </a:solidFill>
                        </a:rPr>
                        <a:t>все jail + prison с 2013-01-01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Объём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18 668 строк, 10 855 имён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accent1"/>
                          </a:solidFill>
                        </a:rPr>
                        <a:t>65 363 строки, 22 552 заключения, 10 580 человек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Переходов в графе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7 668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accent1"/>
                          </a:solidFill>
                        </a:rPr>
                        <a:t>11 237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Пять таблиц базы сводятся в одну таблицу обвинений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84048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63040"/>
            <a:ext cx="35661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people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3"/>
                </a:solidFill>
              </a:rPr>
              <a:t>11 757 строк · age, sex, race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389120" y="1874520"/>
            <a:ext cx="822960" cy="137160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560320"/>
            <a:ext cx="384048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651760"/>
            <a:ext cx="35661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casearrest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3"/>
                </a:solidFill>
              </a:rPr>
              <a:t>128 183 строк · person_id, дело, дата ареста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9120" y="3063240"/>
            <a:ext cx="822960" cy="18288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749040"/>
            <a:ext cx="384048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840480"/>
            <a:ext cx="35661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charge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3"/>
                </a:solidFill>
              </a:rPr>
              <a:t>148 086 строк · все обвинения дела, степень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89120" y="4251960"/>
            <a:ext cx="822960" cy="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4937760"/>
            <a:ext cx="384048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5029200"/>
            <a:ext cx="35661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jailhistory + prisonhistory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3"/>
                </a:solidFill>
              </a:rPr>
              <a:t>22 111 + 4 945 строк · вход и выход из заключения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389120" y="5440680"/>
            <a:ext cx="822960" cy="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12080" y="2468880"/>
            <a:ext cx="2743200" cy="1554480"/>
          </a:xfrm>
          <a:prstGeom prst="roundRect">
            <a:avLst>
              <a:gd name="adj" fmla="val 470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49240" y="2560320"/>
            <a:ext cx="246888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build_from_compas_db.py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обвинения к заключению: арест ±1 день → дата преступления → прошлое дело за 365 дней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92440" y="3063240"/>
            <a:ext cx="548640" cy="36576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78240" y="2194560"/>
            <a:ext cx="2834640" cy="210312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915400" y="2286000"/>
            <a:ext cx="2560320" cy="1920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compas_custody_charges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.csv + .xlsx, 25 столбцов</a:t>
            </a:r>
            <a:endParaRPr lang="en-US" sz="1400" dirty="0"/>
          </a:p>
          <a:p>
            <a:pPr marL="0" indent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источник обвинений: арест 20 368, прошлое дело 1 335, дата преступления 71, не найдено 778 заключений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212080" y="4937760"/>
            <a:ext cx="640080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Проверено: при аресте в ±1 день попадают все обвинения всех дел ареста (100% из 20 368). Аресты без записи о заключении (13% с 2013 г.) не попадают — решение от 8.10: события по заключениям.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Одна строка — одно обвинение внутри заключения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292608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65 363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обвинений (строк)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51760"/>
            <a:ext cx="292608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22 552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заключения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77640"/>
            <a:ext cx="292608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10 580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человек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840480" y="1325880"/>
            <a:ext cx="7772400" cy="987552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977640" y="1371600"/>
            <a:ext cx="74980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Человек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id, age, sex, race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840480" y="2468880"/>
            <a:ext cx="7772400" cy="987552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977640" y="2514600"/>
            <a:ext cx="74980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Заключение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in_custody, out_custody, custody_num, time_to_last_custody, time_since_last_arrest, curr / sum / average_dur_custody, n_charges, charge_source, custody_source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840480" y="3611880"/>
            <a:ext cx="7772400" cy="987552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977640" y="3657600"/>
            <a:ext cx="74980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Обвинение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c_charge_degree, c_charge_desc, charge_num, charge_category, case_number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840480" y="4754880"/>
            <a:ext cx="7772400" cy="987552"/>
          </a:xfrm>
          <a:prstGeom prst="roundRect">
            <a:avLst>
              <a:gd name="adj" fmla="val 740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977640" y="4800600"/>
            <a:ext cx="74980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Будущее — цель, не признак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time_to_future_arrest, event, event_of_future_arrest, all_future_arrest_times, all_future_events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5943600"/>
            <a:ext cx="77724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Ключ строки: id → custody_num → charge_num. Медиана 2 обвинения на заключение, у 64% больше одного.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Из заключений получаем 21 716 эпизодов для журнала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371600"/>
            <a:ext cx="438912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Склейка jail → prison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prison в день выхода = приговор, не новый арест (836)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6060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514600"/>
            <a:ext cx="438912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OldCase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эпизод только из дел, уже бывших у человека: 4 066 (37% повторных)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7490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657600"/>
            <a:ext cx="438912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15 типов преступлений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состояние = множество типов эпизода; развилка у 27%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892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8920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800600"/>
            <a:ext cx="438912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Цензура без END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последний эпизод каждого цензурирован 2016-04-19</a:t>
            </a:r>
            <a:endParaRPr lang="en-US" sz="1400" dirty="0"/>
          </a:p>
        </p:txBody>
      </p:sp>
      <p:graphicFrame>
        <p:nvGraphicFramePr>
          <p:cNvPr id="15" name="Chart 0"/>
          <p:cNvGraphicFramePr/>
          <p:nvPr/>
        </p:nvGraphicFramePr>
        <p:xfrm>
          <a:off x="6035040" y="1280160"/>
          <a:ext cx="5577840" cy="4937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Петли: две трети — повторный арест по тому же делу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48640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Как возникает ложная петля (id 1)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3"/>
                </a:solidFill>
              </a:rPr>
              <a:t>Одно дело 13011352CF10A, два заключения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48640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084832"/>
            <a:ext cx="52120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2013-08-13 · арест, дело 13011352CF10A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Aggravated Assault w/Firearm (F3), Battery (M1)</a:t>
            </a:r>
            <a:endParaRPr lang="en-US" sz="1400" dirty="0"/>
          </a:p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тип: Violent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337560"/>
            <a:ext cx="5486400" cy="1143000"/>
          </a:xfrm>
          <a:prstGeom prst="roundRect">
            <a:avLst>
              <a:gd name="adj" fmla="val 640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3410712"/>
            <a:ext cx="52120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2014-07-07 · новый арест по тому же делу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те же две строки из charge</a:t>
            </a:r>
            <a:endParaRPr lang="en-US" sz="1400" dirty="0"/>
          </a:p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тип: Violent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108960" y="3172968"/>
            <a:ext cx="365760" cy="182880"/>
          </a:xfrm>
          <a:prstGeom prst="down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4800600"/>
            <a:ext cx="548640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В charge у дела один неизменный список обвинений, поэтому повторное заключение по делу копирует статьи и даёт петлю Violent → Violent без нового преступления.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1280160"/>
            <a:ext cx="50292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11 136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3"/>
                </a:solidFill>
              </a:rPr>
              <a:t>переходов между эпизодами (вариант «все новые»)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468880"/>
            <a:ext cx="50292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4 935 · 44%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3"/>
                </a:solidFill>
              </a:rPr>
              <a:t>из них петель (тот же набор типов)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3657600"/>
            <a:ext cx="50292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3 226 · 65%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3"/>
                </a:solidFill>
              </a:rPr>
              <a:t>петель только из старых дел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4846320"/>
            <a:ext cx="50292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1 212 · 25%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3"/>
                </a:solidFill>
              </a:rPr>
              <a:t>петель по новым делам того же типа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6035040"/>
            <a:ext cx="50292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Остальные 497 петель смешанные. Старое дело = case_number уже был у этого id в прошлом эпизоде.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Без старых дел вероятность петли падает вдвое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234440"/>
          <a:ext cx="7680960" cy="5120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8595360" y="1371600"/>
            <a:ext cx="301752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732520" y="1417320"/>
            <a:ext cx="2743200" cy="1325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0.33 → 0.12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средняя петля с OldCase; ещё 0.34 уходит в OldCase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595360" y="2971800"/>
            <a:ext cx="301752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32520" y="3017520"/>
            <a:ext cx="2743200" cy="1325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0.17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без OldCase: настоящий повтор того же типа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595360" y="4572000"/>
            <a:ext cx="301752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732520" y="4617720"/>
            <a:ext cx="2743200" cy="1325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0.54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OldCase → OldCase: возврат по старому делу повторяется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Три варианта построения логов и графа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566160" cy="5029200"/>
          </a:xfrm>
          <a:prstGeom prst="roundRect">
            <a:avLst>
              <a:gd name="adj" fmla="val 2051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46304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417320"/>
            <a:ext cx="2651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Общий: все обвинения новые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03120"/>
            <a:ext cx="320040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Возврат по старому делу = обычный эпизод со своими статьями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971800"/>
            <a:ext cx="3200400" cy="1554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Эпизодов 21 716, переходов 11 136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Петель 44%, средняя 0.33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HM 0.9: fitness 0.998, precision 0.57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663440"/>
            <a:ext cx="3200400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3"/>
                </a:solidFill>
              </a:rPr>
              <a:t>Плюс: ничего не теряем. Минус: ложные петли, событие не всегда новое преступление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0" y="1280160"/>
            <a:ext cx="3566160" cy="5029200"/>
          </a:xfrm>
          <a:prstGeom prst="roundRect">
            <a:avLst>
              <a:gd name="adj" fmla="val 2051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1463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80560" y="1463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074920" y="1417320"/>
            <a:ext cx="2651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С OldCase (основной)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2103120"/>
            <a:ext cx="320040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Эпизод только из старых дел = отдельное состояние OldCase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2971800"/>
            <a:ext cx="3200400" cy="1554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Эпизодов 21 716 (OldCase 4 066)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Петель 21%, средняя 0.12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HM 0.9: fitness 0.995, precision 0.67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480560" y="4663440"/>
            <a:ext cx="3200400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1"/>
                </a:solidFill>
              </a:rPr>
              <a:t>Для п. 1.2: OldCase = отдельный конкурирующий риск «возврат по старому делу»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46720" y="1280160"/>
            <a:ext cx="3566160" cy="5029200"/>
          </a:xfrm>
          <a:prstGeom prst="roundRect">
            <a:avLst>
              <a:gd name="adj" fmla="val 2051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1463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0" y="1463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823960" y="1417320"/>
            <a:ext cx="2651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Без OldCase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2103120"/>
            <a:ext cx="320040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Эпизоды только из старых дел удаляются из цепочки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2971800"/>
            <a:ext cx="3200400" cy="1554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Эпизодов 17 646, переходов 7 066 (−36%)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Петель 22%, средняя 0.17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HM 0.9: fitness 0.995, precision 0.70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4663440"/>
            <a:ext cx="3200400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2"/>
                </a:solidFill>
              </a:rPr>
              <a:t>Для п. 1.2: событие = только новое преступление; данных меньше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mpas">
  <a:themeElements>
    <a:clrScheme name="Compas">
      <a:dk1>
        <a:srgbClr val="1F2933"/>
      </a:dk1>
      <a:lt1>
        <a:srgbClr val="FFFFFF"/>
      </a:lt1>
      <a:dk2>
        <a:srgbClr val="2B3A4A"/>
      </a:dk2>
      <a:lt2>
        <a:srgbClr val="EEF1F4"/>
      </a:lt2>
      <a:accent1>
        <a:srgbClr val="A8323E"/>
      </a:accent1>
      <a:accent2>
        <a:srgbClr val="3E6E8E"/>
      </a:accent2>
      <a:accent3>
        <a:srgbClr val="7A8B99"/>
      </a:accent3>
      <a:accent4>
        <a:srgbClr val="D9A441"/>
      </a:accent4>
      <a:accent5>
        <a:srgbClr val="5B8C5A"/>
      </a:accent5>
      <a:accent6>
        <a:srgbClr val="C7D3DD"/>
      </a:accent6>
      <a:hlink>
        <a:srgbClr val="3E6E8E"/>
      </a:hlink>
      <a:folHlink>
        <a:srgbClr val="7A8B99"/>
      </a:folHlink>
    </a:clrScheme>
    <a:fontScheme name="Compa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3865</Words>
  <Application>WPS 演示</Application>
  <PresentationFormat>Широкоэкранный</PresentationFormat>
  <Paragraphs>203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宋体</vt:lpstr>
      <vt:lpstr>Wingdings</vt:lpstr>
      <vt:lpstr>Cambria</vt:lpstr>
      <vt:lpstr>Cambria</vt:lpstr>
      <vt:lpstr>Cambria</vt:lpstr>
      <vt:lpstr>Calibri</vt:lpstr>
      <vt:lpstr>微软雅黑</vt:lpstr>
      <vt:lpstr>Arial Unicode MS</vt:lpstr>
      <vt:lpstr>等线 Light</vt:lpstr>
      <vt:lpstr>等线</vt:lpstr>
      <vt:lpstr>Compas</vt:lpstr>
      <vt:lpstr>Подготовка данных COMPAS для графа переходов</vt:lpstr>
      <vt:lpstr>Таблицу строим прямо из compas.db, а не из файла Даши</vt:lpstr>
      <vt:lpstr>Пять таблиц базы сводятся в одну таблицу обвинений</vt:lpstr>
      <vt:lpstr>Одна строка — одно обвинение внутри заключения</vt:lpstr>
      <vt:lpstr>Из заключений получаем 21 716 эпизодов для журнала</vt:lpstr>
      <vt:lpstr>Петли: две трети — повторный арест по тому же делу</vt:lpstr>
      <vt:lpstr>Без старых дел вероятность петли падает вдвое</vt:lpstr>
      <vt:lpstr>Три варианта построения логов и графа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Подготовка данных COMPAS</dc:title>
  <dc:creator>PptxGenJS</dc:creator>
  <dc:subject>PptxGenJS Presentation</dc:subject>
  <cp:lastModifiedBy>wonewom</cp:lastModifiedBy>
  <cp:revision>3</cp:revision>
  <dcterms:created xsi:type="dcterms:W3CDTF">2026-10-10T02:19:00Z</dcterms:created>
  <dcterms:modified xsi:type="dcterms:W3CDTF">2026-10-10T03:21:02Z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0614531258DA493A97BE977E97186C9F_13</vt:lpwstr>
  </property>
  <property fmtid="{D5CDD505-2E9C-101B-9397-08002B2CF9AE}" pid="3" name="KSOProductBuildVer">
    <vt:lpwstr>2052-12.1.0.16388</vt:lpwstr>
  </property>
</Properties>
</file>